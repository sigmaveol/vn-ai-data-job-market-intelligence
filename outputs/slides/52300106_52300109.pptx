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64008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2124"/>
                </a:solidFill>
                <a:latin typeface="Arial"/>
              </a:defRPr>
            </a:pPr>
            <a:r>
              <a:t>Phân tích Thị trường AI/Data Việt Nam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1168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285F4"/>
                </a:solidFill>
                <a:latin typeface="Arial"/>
              </a:rPr>
              <a:t>Exploratory Data Analysis · Job Market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505456"/>
            <a:ext cx="7955279" cy="889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02124"/>
                </a:solidFill>
                <a:latin typeface="Arial"/>
              </a:defRPr>
            </a:pPr>
            <a:r>
              <a:t>Hoàng Sinh Hưng (52300106)</a:t>
            </a:r>
          </a:p>
          <a:p>
            <a:pPr>
              <a:spcBef>
                <a:spcPts val="4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Trần Thiên Hưng (52300109)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65176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368"/>
                </a:solidFill>
                <a:latin typeface="Arial"/>
              </a:defRPr>
            </a:pPr>
            <a:r>
              <a:t>505067 - Data Analysis and Visualization</a:t>
            </a:r>
          </a:p>
          <a:p>
            <a:pPr algn="r">
              <a:spcBef>
                <a:spcPts val="400"/>
              </a:spcBef>
              <a:defRPr sz="950">
                <a:solidFill>
                  <a:srgbClr val="5F6368"/>
                </a:solidFill>
                <a:latin typeface="Arial"/>
              </a:defRPr>
            </a:pPr>
            <a:r>
              <a:t>Học kỳ 2, năm học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274320" cy="274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5097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Tổng quan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16152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Nguồn, quy mô, chất lượng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969264"/>
            <a:ext cx="274320" cy="274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95097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914400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Phân tích Lương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216152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Phân phối, vai trò, địa lý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82496"/>
            <a:ext cx="274320" cy="27432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64208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Phân tích Kỹ năng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929384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Top skills, lương cao, heatmap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682496"/>
            <a:ext cx="27432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664208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27632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Phân tích Địa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1929384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HCM vs Hà Nội, xu hướng vùng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95728"/>
            <a:ext cx="274320" cy="27432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7744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340864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Xu hướng &amp; Công 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642616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Thời gian, top nhà tuyển dụng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395728"/>
            <a:ext cx="274320" cy="274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237744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340864"/>
            <a:ext cx="3794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Key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642616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Kết luận &amp; Khuyến nghị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Tổng quan Thị trường AI/Data Việt Nam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892807" cy="3200400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892807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7099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285F4"/>
                </a:solidFill>
                <a:latin typeface="Arial"/>
              </a:rPr>
              <a:t>7.051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Arial"/>
              </a:rPr>
              <a:t>Tin tuyển dụng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443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F6368"/>
                </a:solidFill>
                <a:latin typeface="Arial"/>
              </a:rPr>
              <a:t>6 nền tảng · 5 tháng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914400"/>
            <a:ext cx="1892807" cy="3200400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914400"/>
            <a:ext cx="1892807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234440"/>
            <a:ext cx="17099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4A853"/>
                </a:solidFill>
                <a:latin typeface="Arial"/>
              </a:rPr>
              <a:t>3.496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87168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Arial"/>
              </a:rPr>
              <a:t>Doanh nghiệp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443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F6368"/>
                </a:solidFill>
                <a:latin typeface="Arial"/>
              </a:rPr>
              <a:t>Thị trường phân mảnh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914400"/>
            <a:ext cx="1892807" cy="3200400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914400"/>
            <a:ext cx="1892807" cy="64008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234440"/>
            <a:ext cx="17099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7B05"/>
                </a:solidFill>
                <a:latin typeface="Arial"/>
              </a:rPr>
              <a:t>$980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487168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Arial"/>
              </a:rPr>
              <a:t>Lương trung vị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443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F6368"/>
                </a:solidFill>
                <a:latin typeface="Arial"/>
              </a:rPr>
              <a:t>USD/tháng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914400"/>
            <a:ext cx="1892807" cy="3200400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914400"/>
            <a:ext cx="1892807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234440"/>
            <a:ext cx="17099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9688"/>
                </a:solidFill>
                <a:latin typeface="Arial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487168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Arial"/>
              </a:rPr>
              <a:t>Công bố lương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44368"/>
            <a:ext cx="1801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F6368"/>
                </a:solidFill>
                <a:latin typeface="Arial"/>
              </a:rPr>
              <a:t>58% "thỏa thuận"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828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3278D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0" cy="3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Tổng quan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D2FF"/>
                </a:solidFill>
                <a:latin typeface="Arial"/>
              </a:rPr>
              <a:t>Nguồn dữ liệu · Quy mô · Chất lượng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Phân bổ Nguồn &amp; Độ đầy đủ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663939"/>
            <a:ext cx="5760720" cy="22591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7.051 tin unique từ 6 nền tảng — 123job chiếm 58.3%, VietnamWorks 16.6%, ITviec 11.4%.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VietnamWorks (API) và ITviec (JSON-LD) cho chất lượng dữ liệu cao nhất; TopCV bị Cloudflare chặn 75%.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Trường salary thiếu nhiều nhất (58%): 'thỏa thuận' là chuẩn mực thị trường Việt Nam.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Độ Đầy đủ Dữ liệu theo Trường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field_complet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515071"/>
            <a:ext cx="5760720" cy="25568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Độ đầy đủ trung bình đạt 87.8% — chủ yếu thiếu ở salary và job_description.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TopCV chỉ đạt 36% mô tả công việc do Cloudflare anti-bot blocking trong quá trình crawl.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Salary missing là non-random: postings công bố lương thiên về roles cạnh tranh, tạo selection bias.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828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3278D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0" cy="3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Phân tích Lương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D2FF"/>
                </a:solidFill>
                <a:latin typeface="Arial"/>
              </a:rPr>
              <a:t>Phân phối · Theo vai trò · Theo địa lý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Phân bổ Mức lương (USD/tháng)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771205"/>
            <a:ext cx="5760720" cy="2044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Lương trung vị $980/tháng (~25 triệu VND) — phân phối lệch phải do tail senior/lead.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Chỉ 42% tin công bố lương cụ thể; 58% 'thỏa thuận' tạo bất cân xứng thông tin bất lợi cho ứng viên.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Khoảng dao động rộng: Intern ~$300 → Lead/Senior $1.500+, chênh lệch 5 lần.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Lương Trung vị theo Vai trò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salary_by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129140"/>
            <a:ext cx="5760720" cy="33287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MLOps/DevOps và Cloud Engineer dẫn đầu &gt;$1.200/tháng — premium thiếu hụt kỹ năng hạ tầng.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AI/ML Engineer vượt Data Analyst ~20%, phản ánh premium kỹ năng ML + software engineering.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Business/Data Analyst gần trung vị thị trường — nguồn cung dồi dào từ các chương trình đại học.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Lương Trung vị theo Thành phố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salary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773163"/>
            <a:ext cx="5760720" cy="20406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TP.HCM cao hơn Hà Nội 10-15% — tập trung FDI công nghệ, AI startup và offshore dev centers.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Hà Nội: lương theo chuẩn nội địa do dominance của state-linked enterprises và ngân hàng nhà nước.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Đà Nẵng nổi lên với mức lương cạnh tranh — chiến lược mở rộng tier-2 của FDI Đông Nam Á.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828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3278D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0" cy="3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Phân tích Kỹ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D2FF"/>
                </a:solidFill>
                <a:latin typeface="Arial"/>
              </a:rPr>
              <a:t>Top skills · Kỹ năng lương cao · Heatmap vai trò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Top 20 Kỹ năng Kỹ thuật được Yêu cầu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top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0" y="804672"/>
            <a:ext cx="5330395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Python (1.282 tin) và SQL (1.199 tin) là bộ đôi bắt buộc — xuất hiện trong &gt;17% tổng tin.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PyTorch vượt TensorFlow: xu hướng chuyển sang LLM fine-tuning và generative AI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Top 10 kỹ năng chiếm 43% tổng tần suất — power-law distribution điển hình của tech labor market.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Kỹ năng Được Trả Lương Cao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high_paying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128208"/>
            <a:ext cx="5760720" cy="33305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Spark, Kafka, Kubernetes dẫn đầu &gt;130% mức lương trung vị — scarcity premium hạ tầng dữ liệu.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MLOps skills (Airflow, dbt, Kubeflow) cao hơn 25-40% so với analytics skills thuần túy.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Operational scarcity — không phải độ phức tạp thuật toán — là driver chính của salary premium.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Ma trận Kỹ năng × Vai trò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skill_rol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620061"/>
            <a:ext cx="5760720" cy="2346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Python phổ biến cross-role; Java tập trung ở Software Engineer — hệ sinh thái enterprise Việt Nam.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PyTorch/TensorFlow chỉ xuất hiện đậm ở AI/ML Engineer, không lan sang Data Analyst.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Kubernetes/Docker tập trung ở MLOps — kỹ năng này hầu như không xuất hiện ở vai trò phân tích.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828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3278D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0" cy="3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Phân tích Địa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D2FF"/>
                </a:solidFill>
                <a:latin typeface="Arial"/>
              </a:rPr>
              <a:t>HCM vs Hà Nội · Phân bổ vùng · Salary geography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Phân bổ Tin Tuyển dụng &amp; Lương theo Địa lý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geographi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771205"/>
            <a:ext cx="5760720" cy="2044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Hà Nội (46%) và TP.HCM (38%) chiếm 84% tổng tin — mức độ tập trung địa lý rất cao.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TP.HCM thiên về AI Engineer và product tech; Hà Nội thiên về enterprise IT, banking, telecom.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Đà Nẵng (1.6%) đang nổi lên với FDI expansion — tier-2 market với chi phí sinh hoạt thấp hơn.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828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3278D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0" cy="3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Xu hướng &amp; Công 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D2FF"/>
                </a:solidFill>
                <a:latin typeface="Arial"/>
              </a:rPr>
              <a:t>Diễn biến thời gian · Top nhà tuyển dụng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Xu hướng Tuyển dụng theo Thời gian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162760"/>
            <a:ext cx="5760720" cy="32614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Đỉnh tháng 2-3/2026: hiệu ứng bù Tết — quyết định tuyển dụng dồn sau Tết Nguyên Đán.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AI Engineer tăng đều, không hồi phục về baseline — structural growth, không phải cyclical.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Data Analyst ổn định week-over-week — persistent baseline demand, phù hợp tuyển dụng dài hạn.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Top Công ty Tuyển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company_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723609"/>
            <a:ext cx="5760720" cy="21397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804672"/>
            <a:ext cx="3063240" cy="3977639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2472" y="896112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896112"/>
            <a:ext cx="658368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88696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Phát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11556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Thị trường phân mảnh: top 20 công ty &lt;15% tổng tin — hàng trăm org đang build AI/Data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084832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658368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7568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Xu hướng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30428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Tài chính/ngân hàng tập trung Data/Business Analyst; tech startup và FDI tập trung AI/ML Engineer.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3273552"/>
            <a:ext cx="45720" cy="82296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73552"/>
            <a:ext cx="658368" cy="1828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64408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Hàm 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493008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D2DCF0"/>
                </a:solidFill>
                <a:latin typeface="Arial"/>
              </a:defRPr>
            </a:pPr>
            <a:r>
              <a:t>FPT Software dẫn đầu — outsourcing supplier + chỉ báo xu hướng IT service cho enterprise Việt Nam.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828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3278D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0" cy="3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D2FF"/>
                </a:solidFill>
                <a:latin typeface="Arial"/>
              </a:rPr>
              <a:t>Kết luận · Hạn chế · Khuyến nghị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5 Key Findings — Thị trường AI/Data Việt Nam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8595360" cy="722375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41248"/>
            <a:ext cx="54864" cy="72237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996695"/>
            <a:ext cx="475488" cy="411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96695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896112"/>
            <a:ext cx="7680960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Python + SQL là bộ đôi bắt buộc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138793"/>
            <a:ext cx="7680960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xuất hiện trong &gt;17% tổng tin, không thể thiếu ở bất kỳ vai trò Data nào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36776"/>
            <a:ext cx="8595360" cy="722375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636776"/>
            <a:ext cx="54864" cy="722375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792224"/>
            <a:ext cx="475488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792224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691640"/>
            <a:ext cx="7680960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Lương MLOps/DevOps dẫn đầu &gt;$1.200/tháng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934321"/>
            <a:ext cx="7680960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operational scarcity tạo premium, không phải độ phức tạp thuật toán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32303"/>
            <a:ext cx="8595360" cy="722375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432303"/>
            <a:ext cx="54864" cy="722375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2587751"/>
            <a:ext cx="475488" cy="411480"/>
          </a:xfrm>
          <a:prstGeom prst="rect">
            <a:avLst/>
          </a:prstGeom>
          <a:solidFill>
            <a:srgbClr val="FA7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587751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487168"/>
            <a:ext cx="7680960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TP.HCM cao hơn Hà Nội 10–15%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729849"/>
            <a:ext cx="7680960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FDI tech, AI startup tập trung tạo pricing áp sát mức lương toàn cầu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27831"/>
            <a:ext cx="8595360" cy="722375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227831"/>
            <a:ext cx="54864" cy="72237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" y="3383279"/>
            <a:ext cx="475488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383279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282695"/>
            <a:ext cx="7680960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AI Engineer tăng trưởng có cấu trúc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525377"/>
            <a:ext cx="7680960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không hồi phục về baseline sau đỉnh Tết, khác hoàn toàn Data 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23359"/>
            <a:ext cx="8595360" cy="722375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23359"/>
            <a:ext cx="54864" cy="722375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4178807"/>
            <a:ext cx="475488" cy="4114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4178807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78223"/>
            <a:ext cx="7680960" cy="3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124"/>
                </a:solidFill>
                <a:latin typeface="Arial"/>
              </a:rPr>
              <a:t>42% công bố lương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20905"/>
            <a:ext cx="7680960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58% 'thỏa thuận' tạo bất cân xứng thông tin bất lợi nghiêm trọng cho ứng viên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Hạn chế Phân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689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98800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123job chiếm 58% — thiên lệch nguồn ảnh hưởng phân phối kỹ năng và mức lương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8130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8241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TopCV: Cloudflare chặn 75% request, mô tả công việc chỉ đạt 36% completeness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7571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7682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58% tin không công bố lương — non-random missingness, thiên về competitive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7012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97123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Cửa sổ quan sát 5 tháng — chưa đủ dài để phân tích xu hướng seasonal dài hạn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124"/>
                </a:solidFill>
                <a:latin typeface="Arial"/>
              </a:rPr>
              <a:t>Khuyến nghị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8229600" cy="317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689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98800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Ứng viên: ưu tiên Python + SQL + 1 cloud platform + 1 MLOps tool để tăng lương tối đa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8130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8241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Sinh viên: đầu tư kỹ năng hạ tầng (Spark, Airflow, Kubernetes) thay vì chỉ thuật toán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7571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7682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Doanh nghiệp: tuyển AI Engineer sớm trước khi thị trường cạnh tranh và lương leo thang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70121"/>
            <a:ext cx="914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971239"/>
            <a:ext cx="8046720" cy="75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124"/>
                </a:solidFill>
                <a:latin typeface="Arial"/>
              </a:defRPr>
            </a:pPr>
            <a:r>
              <a:t>Nền tảng tuyển dụng: khuyến khích công bố lương cụ thể để giảm bất cân xứng thông 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73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AA0A6"/>
                </a:solidFill>
                <a:latin typeface="Arial"/>
              </a:rPr>
              <a:t>Source: 7,051 VN AI/Data job postings · Jan–May 2026 · 505067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873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9AA0A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285F4"/>
                </a:solidFill>
                <a:latin typeface="Arial"/>
              </a:rPr>
              <a:t>Cảm ơn!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148840"/>
            <a:ext cx="4572000" cy="1016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02124"/>
                </a:solidFill>
                <a:latin typeface="Arial"/>
              </a:rPr>
              <a:t>Hỏi &amp; Đáp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880360"/>
            <a:ext cx="4572000" cy="1188720"/>
          </a:xfrm>
          <a:prstGeom prst="rect">
            <a:avLst/>
          </a:prstGeom>
          <a:solidFill>
            <a:srgbClr val="F8F9FA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880360"/>
            <a:ext cx="4572000" cy="502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9992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02124"/>
                </a:solidFill>
                <a:latin typeface="Arial"/>
              </a:defRPr>
            </a:pPr>
            <a:r>
              <a:t>Hoàng Sinh Hưng (52300106)</a:t>
            </a:r>
          </a:p>
          <a:p>
            <a:pPr algn="ctr">
              <a:spcBef>
                <a:spcPts val="500"/>
              </a:spcBef>
              <a:defRPr sz="1100">
                <a:solidFill>
                  <a:srgbClr val="202124"/>
                </a:solidFill>
                <a:latin typeface="Arial"/>
              </a:defRPr>
            </a:pPr>
            <a:r>
              <a:t>Trần Thiên Hưng (52300109)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Arial"/>
              </a:rPr>
              <a:t>505067 - Data Analysis and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